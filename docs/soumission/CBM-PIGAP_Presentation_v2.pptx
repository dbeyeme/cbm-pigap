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Depuis le dépôt du 26 juillet 2026, le prototype complet a été réalisé et mis en ligne. Cette présentation en rend compte.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Démonstration en direct possible : portail et API sont en ligne. Toutes les données sont fictives.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image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6217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au défi Kimba Connect · Présentation actualisée après réalisation du prototype · 1er octobre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600200" cy="4846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 de la présentation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CBM-PIGAP · Octobre 2026 · Confidentiel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Auriol LONGHO, Product Owner, et Christian BEYEME, porteur de projet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892808"/>
            <a:ext cx="548640" cy="5486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7830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: un secteur stratégique sans visibilité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944368"/>
            <a:ext cx="548640" cy="548640"/>
          </a:xfrm>
          <a:prstGeom prst="ellipse">
            <a:avLst/>
          </a:prstGeom>
          <a:solidFill>
            <a:srgbClr val="4E8F3A"/>
          </a:solidFill>
          <a:ln w="12700">
            <a:solidFill>
              <a:srgbClr val="4E8F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944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834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 : sept modules du cahier des charges, livrés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3995928"/>
            <a:ext cx="548640" cy="5486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995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8862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existe au 1er octobre 2026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5047488"/>
            <a:ext cx="548640" cy="548640"/>
          </a:xfrm>
          <a:prstGeom prst="ellipse">
            <a:avLst/>
          </a:prstGeom>
          <a:solidFill>
            <a:srgbClr val="4E8F3A"/>
          </a:solidFill>
          <a:ln w="12700">
            <a:solidFill>
              <a:srgbClr val="4E8F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5047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49377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et fonctionnement sur le terrain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17920" y="1892808"/>
            <a:ext cx="548640" cy="5486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949440" y="17830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en temps réel : les sources de position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217920" y="2944368"/>
            <a:ext cx="548640" cy="548640"/>
          </a:xfrm>
          <a:prstGeom prst="ellipse">
            <a:avLst/>
          </a:prstGeom>
          <a:solidFill>
            <a:srgbClr val="4E8F3A"/>
          </a:solidFill>
          <a:ln w="12700">
            <a:solidFill>
              <a:srgbClr val="4E8F3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17920" y="2944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949440" y="2834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Gouvernance, conformité et données personnelles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217920" y="3995928"/>
            <a:ext cx="548640" cy="5486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17920" y="3995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949440" y="38862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 et offre commerciale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217920" y="5047488"/>
            <a:ext cx="548640" cy="548640"/>
          </a:xfrm>
          <a:prstGeom prst="ellipse">
            <a:avLst/>
          </a:prstGeom>
          <a:solidFill>
            <a:srgbClr val="4E8F3A"/>
          </a:solidFill>
          <a:ln w="12700">
            <a:solidFill>
              <a:srgbClr val="4E8F3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217920" y="5047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6949440" y="49377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phase pilote et prochaines étapes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600200" cy="4846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8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LE PROBLÈME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secteur stratégique sans visibilité en temps réel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CBM-PIGAP · Octobre 2026 · Confidentiel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de données fiables, suivi limité et gouvernance insuffisante freinent la gestion durable de la ressource et sa valorisation.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760720" cy="896112"/>
          </a:xfrm>
          <a:prstGeom prst="roundRect">
            <a:avLst>
              <a:gd name="adj" fmla="val 12245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331720"/>
            <a:ext cx="420624" cy="42062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331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261872" y="231343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registre centralisé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2834640"/>
            <a:ext cx="53583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Pêcheurs, embarcations et licences hors de tout système unique.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3154680"/>
            <a:ext cx="5760720" cy="896112"/>
          </a:xfrm>
          <a:prstGeom prst="roundRect">
            <a:avLst>
              <a:gd name="adj" fmla="val 12245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337560"/>
            <a:ext cx="420624" cy="42062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261872" y="331927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et contrôle insuffisants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" y="3840480"/>
            <a:ext cx="53583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réglementées non surveillées en continu ; dépassements vus a posteriori.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4160520"/>
            <a:ext cx="5760720" cy="896112"/>
          </a:xfrm>
          <a:prstGeom prst="roundRect">
            <a:avLst>
              <a:gd name="adj" fmla="val 12245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4343400"/>
            <a:ext cx="420624" cy="42062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261872" y="432511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de traçabilité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49808" y="4846320"/>
            <a:ext cx="53583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 déclarées de façon homogène ; stocks mal évalués.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48640" y="5166360"/>
            <a:ext cx="5760720" cy="896112"/>
          </a:xfrm>
          <a:prstGeom prst="roundRect">
            <a:avLst>
              <a:gd name="adj" fmla="val 12245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31520" y="5349240"/>
            <a:ext cx="420624" cy="42062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5349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261872" y="53309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Connectivité et adoption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49808" y="5852160"/>
            <a:ext cx="53583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intermittent, équipements hétérogènes, 75 % de non-nationaux en mer.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675120" y="1280160"/>
            <a:ext cx="4983480" cy="4892040"/>
          </a:xfrm>
          <a:prstGeom prst="roundRect">
            <a:avLst>
              <a:gd name="adj" fmla="val 2804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90372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secteur en chiffres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90372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70 000 t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6903720" y="2331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demande nationale par an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28116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à 50 000 t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9281160" y="2331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production locale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90372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15,5 Mds FCFA</a:t>
            </a:r>
            <a:endParaRPr lang="en-US" sz="2200" dirty="0"/>
          </a:p>
        </p:txBody>
      </p:sp>
      <p:sp>
        <p:nvSpPr>
          <p:cNvPr id="34" name="Text 31"/>
          <p:cNvSpPr txBox="1"/>
          <p:nvPr/>
        </p:nvSpPr>
        <p:spPr>
          <a:xfrm>
            <a:off x="6903720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d'importations, 25 à 26 000 t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928116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1 500</a:t>
            </a:r>
            <a:endParaRPr lang="en-US" sz="2200" dirty="0"/>
          </a:p>
        </p:txBody>
      </p:sp>
      <p:sp>
        <p:nvSpPr>
          <p:cNvPr id="36" name="Text 33"/>
          <p:cNvSpPr txBox="1"/>
          <p:nvPr/>
        </p:nvSpPr>
        <p:spPr>
          <a:xfrm>
            <a:off x="9281160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pirogues maritimes, près de 5 000 pêcheurs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690372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kg</a:t>
            </a:r>
            <a:endParaRPr lang="en-US" sz="2200" dirty="0"/>
          </a:p>
        </p:txBody>
      </p:sp>
      <p:sp>
        <p:nvSpPr>
          <p:cNvPr id="38" name="Text 35"/>
          <p:cNvSpPr txBox="1"/>
          <p:nvPr/>
        </p:nvSpPr>
        <p:spPr>
          <a:xfrm>
            <a:off x="6903720" y="4983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habitant et par an, premier rang d'Afrique centrale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928116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</a:t>
            </a:r>
            <a:endParaRPr lang="en-US" sz="2200" dirty="0"/>
          </a:p>
        </p:txBody>
      </p:sp>
      <p:sp>
        <p:nvSpPr>
          <p:cNvPr id="40" name="Text 37"/>
          <p:cNvSpPr txBox="1"/>
          <p:nvPr/>
        </p:nvSpPr>
        <p:spPr>
          <a:xfrm>
            <a:off x="9281160" y="4983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pirogues ciblées par les balises nationales, plus de 300 posées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6903720" y="5760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Invest-Time (26 juin 2024) ; FAO relayée par Gabon Media Time ; ministère, fiche « La pêche artisanale au Gabon » ; Gabonreview (2021) ; Global Fishing Watch (2025).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600200" cy="4846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8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LA RÉPONSE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modules du cahier des charges, tous livrés et testés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CBM-PIGAP · Octobre 2026 · Confidentiel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554480"/>
            <a:ext cx="420624" cy="42062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61872" y="15361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des acteurs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057400"/>
            <a:ext cx="22494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Pêcheurs, embarcations, licences, organisations, demandes en ligne, PDF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83280" y="137160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66160" y="1554480"/>
            <a:ext cx="420624" cy="420624"/>
          </a:xfrm>
          <a:prstGeom prst="ellipse">
            <a:avLst/>
          </a:prstGeom>
          <a:solidFill>
            <a:srgbClr val="4E8F3A"/>
          </a:solidFill>
          <a:ln w="12700">
            <a:solidFill>
              <a:srgbClr val="4E8F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6160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096512" y="15361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Géolocalisation et suivi GPS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584448" y="2057400"/>
            <a:ext cx="22494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Trajectoires, circulation en temps réel, présence au port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17920" y="137160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0" y="1554480"/>
            <a:ext cx="420624" cy="42062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0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931152" y="15361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 réglementaire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419088" y="2057400"/>
            <a:ext cx="22494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autorisées, interdites, protégées ; masque d'eau national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9052560" y="137160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235440" y="1554480"/>
            <a:ext cx="420624" cy="420624"/>
          </a:xfrm>
          <a:prstGeom prst="ellipse">
            <a:avLst/>
          </a:prstGeom>
          <a:solidFill>
            <a:srgbClr val="4E8F3A"/>
          </a:solidFill>
          <a:ln w="12700">
            <a:solidFill>
              <a:srgbClr val="4E8F3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35440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765792" y="15361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 des captures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253728" y="2057400"/>
            <a:ext cx="22494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hors-ligne, 26 espèces, 9 engins, taxe à la production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48640" y="361188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31520" y="3794760"/>
            <a:ext cx="420624" cy="42062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1520" y="3794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261872" y="37764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quotas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749808" y="4297680"/>
            <a:ext cx="22494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 en temps réel, alerte à 90 %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3383280" y="361188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566160" y="3794760"/>
            <a:ext cx="420624" cy="420624"/>
          </a:xfrm>
          <a:prstGeom prst="ellipse">
            <a:avLst/>
          </a:prstGeom>
          <a:solidFill>
            <a:srgbClr val="4E8F3A"/>
          </a:solidFill>
          <a:ln w="12700">
            <a:solidFill>
              <a:srgbClr val="4E8F3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566160" y="3794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4096512" y="37764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3584448" y="4297680"/>
            <a:ext cx="22494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d'effort, débarquements, rapports, exports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217920" y="361188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400800" y="3794760"/>
            <a:ext cx="420624" cy="42062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400800" y="3794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6931152" y="37764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intelligentes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6419088" y="4297680"/>
            <a:ext cx="22494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Douze règles traçables, notifications instantanées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9052560" y="361188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253728" y="377647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six extensions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9253728" y="4297680"/>
            <a:ext cx="22494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 en ZEE, météo-marine, prédictions consultatives, documents officiels, paiement mobile, redevances et contrôles</a:t>
            </a:r>
            <a:endParaRPr lang="en-US" sz="1250" dirty="0"/>
          </a:p>
        </p:txBody>
      </p:sp>
      <p:sp>
        <p:nvSpPr>
          <p:cNvPr id="44" name="Text 41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module est clos avec ses tests d'acceptation issus du cahier des charges et une entrée au journal de réalisation.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600200" cy="4846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8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ÉTAT DU PROTOTYPE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existe au 1er octobre 2026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CBM-PIGAP · Octobre 2026 · Confidentiel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435608"/>
            <a:ext cx="2651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121408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du cahier livrés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83280" y="13258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2C4A7A"/>
          </a:solidFill>
          <a:ln w="12700">
            <a:solidFill>
              <a:srgbClr val="2C4A7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83280" y="1435608"/>
            <a:ext cx="2651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2121408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 côté serveur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17920" y="13258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4E8F3A"/>
          </a:solidFill>
          <a:ln w="12700">
            <a:solidFill>
              <a:srgbClr val="4E8F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1435608"/>
            <a:ext cx="2651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2121408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d'architecture écrites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052560" y="13258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052560" y="1435608"/>
            <a:ext cx="2651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7" name="Text 14"/>
          <p:cNvSpPr txBox="1"/>
          <p:nvPr/>
        </p:nvSpPr>
        <p:spPr>
          <a:xfrm>
            <a:off x="9189720" y="2121408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en ligne : portail et API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297180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13639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web des autorités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49808" y="3657600"/>
            <a:ext cx="32552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· Rapports · Acteurs · Navires · Pêches et ressources · Surveillance (GPS, AIS, présence au port) · Alertes · Contrôles · Cartographie · Administration · Pages publiques de vérification par code QR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389120" y="297180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90288" y="313639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590288" y="3657600"/>
            <a:ext cx="32552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· Accueil pêcheur · Suivi GPS hors-ligne · Déclaration des captures hors-ligne · Bulletin de mer et alertes de danger · Redevances et quittances · Abonnement et paiement depuis son numéro · Enregistrement par l'agent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229600" y="297180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30768" y="3136392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et documentation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430768" y="3657600"/>
            <a:ext cx="30723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 et masque d'eau ouverts · Ports et secteurs de mer · Référentiel de 26 espèces et 9 engins · Barèmes de redevances · Journal de réalisation · Guides par module · Données de test fictives jusqu'au pilote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600200" cy="4846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8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ARCHITECTURE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et modules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CBM-PIGAP · Octobre 2026 · Confidentiel</a:t>
            </a:r>
            <a:endParaRPr lang="en-US" sz="900" dirty="0"/>
          </a:p>
        </p:txBody>
      </p:sp>
      <p:pic>
        <p:nvPicPr>
          <p:cNvPr id="6" name="Image 1" descr="docs/imag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7680960" cy="5120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778240" y="1280160"/>
            <a:ext cx="2926080" cy="5120640"/>
          </a:xfrm>
          <a:prstGeom prst="roundRect">
            <a:avLst>
              <a:gd name="adj" fmla="val 3750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979408" y="144475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couches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979408" y="1965960"/>
            <a:ext cx="2523744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: portail web et application mobile.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Logiciel et gouvernance : API documentée, moteur de règles, prédictions consultatives, chaque alerte porte son déclencheur.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: PostgreSQL et PostGIS, référentiels ouverts, sauvegardes, journal des accès.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600200" cy="4846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8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TERRAIN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 opérationnel et réalité du terrain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CBM-PIGAP · Octobre 2026 · Confidentiel</a:t>
            </a:r>
            <a:endParaRPr lang="en-US" sz="900" dirty="0"/>
          </a:p>
        </p:txBody>
      </p:sp>
      <p:pic>
        <p:nvPicPr>
          <p:cNvPr id="6" name="Image 1" descr="docs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498080" cy="499262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321040" y="128016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522208" y="1444752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Hors-ligne d'abord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522208" y="1965960"/>
            <a:ext cx="2980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et positions sont enregistrées sur le téléphone puis synchronisées au retour du réseau, sans doublon ni perte, même après plusieurs jours.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321040" y="388620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522208" y="4050792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sur le terrain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522208" y="4572000"/>
            <a:ext cx="2980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et quittance portent un code QR ; l'agent vérifie leur validité sans accès au registre et sans donnée personnelle exposée.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600200" cy="4846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8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TEMPS RÉEL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en temps réel : quatre sources, une seule carte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CBM-PIGAP · Octobre 2026 · Confidentiel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325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28600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245059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97180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du téléphone, immédiat sous couverture, différé sinon.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place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132588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4E8F3A"/>
          </a:solidFill>
          <a:ln w="12700">
            <a:solidFill>
              <a:srgbClr val="4E8F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20440" y="1325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Balises satellitaires de l'État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383280" y="228600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84448" y="245059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584448" y="297180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national lancé en 2021, relais satellite, message toutes les 30 minutes, bouton de détresse.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383280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livrée, accès aux données à obtenir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17920" y="132588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2C4A7A"/>
          </a:solidFill>
          <a:ln w="12700">
            <a:solidFill>
              <a:srgbClr val="2C4A7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55080" y="1325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Récepteurs AIS portuaires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217920" y="228600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9088" y="245059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419088" y="297180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Navires équipés AIS, 20 à 40 milles autour de chaque récepteur.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17920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place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052560" y="132588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5B6570"/>
          </a:solidFill>
          <a:ln w="12700">
            <a:solidFill>
              <a:srgbClr val="5B657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189720" y="1325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AIS communautaire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9052560" y="228600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253728" y="245059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9253728" y="297180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Navires industriels en ZEE ; couverture inégale au large, signalée explicitement.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9052560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place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48640" y="461772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E8A421"/>
          </a:solidFill>
          <a:ln w="12700">
            <a:solidFill>
              <a:srgbClr val="E8A42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1520" y="46177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position unique, règles d'alerte identiques pour toutes les sources, fraîcheur affichée pour chaque position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530352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pas la triangulation GSM ou GPS ?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récepteur GPS n'émet rien ; une cellule GSM porte 35 km au plus alors que les zones de pêche sont à plusieurs centaines de kilomètres des points envisagés ; la localisation des abonnés relève des opérateurs et de la loi sur les données personnelles. Étudiée, chiffrée, écartée (décision d'architecture n° 9).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600200" cy="4846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8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CONFORMITÉ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Gouvernance, conformité et données personnelles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CBM-PIGAP · Octobre 2026 · Confidentiel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600200"/>
            <a:ext cx="420624" cy="42062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61872" y="15819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et moindre privilège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103120"/>
            <a:ext cx="3209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Pêcheur, organisation, agent, autorité, chercheur, administrateur ; géolocalisation filtrée par rôle.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43400" y="141732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1600200"/>
            <a:ext cx="420624" cy="420624"/>
          </a:xfrm>
          <a:prstGeom prst="ellipse">
            <a:avLst/>
          </a:prstGeom>
          <a:solidFill>
            <a:srgbClr val="4E8F3A"/>
          </a:solidFill>
          <a:ln w="12700">
            <a:solidFill>
              <a:srgbClr val="4E8F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2628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056632" y="15819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des accès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44568" y="2103120"/>
            <a:ext cx="3209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consultation ou export de données nominatives est inscrit ; chaque alerte porte son déclencheur.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138160" y="141732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1600200"/>
            <a:ext cx="420624" cy="42062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2104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851392" y="15819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Minimisation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339328" y="2103120"/>
            <a:ext cx="3209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publiques de vérification sans donnée personnelle ; données anonymisées et agrégées pour les tiers.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374904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1520" y="3931920"/>
            <a:ext cx="420624" cy="420624"/>
          </a:xfrm>
          <a:prstGeom prst="ellipse">
            <a:avLst/>
          </a:prstGeom>
          <a:solidFill>
            <a:srgbClr val="4E8F3A"/>
          </a:solidFill>
          <a:ln w="12700">
            <a:solidFill>
              <a:srgbClr val="4E8F3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261872" y="3913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légal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49808" y="4434840"/>
            <a:ext cx="3209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n° 001/2011 modifiée par la loi n° 025/2023 ; déclaration des traitements auprès de l'autorité de protection avant le pilote.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343400" y="374904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26280" y="3931920"/>
            <a:ext cx="420624" cy="42062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2628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056632" y="3913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responsable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4544568" y="4434840"/>
            <a:ext cx="3209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Prédictions consultatives, explicables, jamais décisionnelles ; aucune décision automatique contre un pêcheur.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8138160" y="374904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321040" y="3931920"/>
            <a:ext cx="420624" cy="420624"/>
          </a:xfrm>
          <a:prstGeom prst="ellipse">
            <a:avLst/>
          </a:prstGeom>
          <a:solidFill>
            <a:srgbClr val="4E8F3A"/>
          </a:solidFill>
          <a:ln w="12700">
            <a:solidFill>
              <a:srgbClr val="4E8F3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32104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8851392" y="3913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fictives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8339328" y="4434840"/>
            <a:ext cx="3209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réelle avant l'ouverture du pilote et la validation des référentiels par l'administration.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600200" cy="4846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8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OFFRE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 : qui paie quoi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CBM-PIGAP · Octobre 2026 · Confidentiel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32588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325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Autorité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25 000 000 FCFA HT / an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788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2 500 000 FCFA HT par mois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24612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national, carte temps réel GPS et AIS, zones, quotas, alertes, tableau de bord, rapports, hébergement, support, formation annuelle, 50 comptes. Commande publique ou programme bailleur.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43400" y="132588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43400" y="132588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2C4A7A"/>
          </a:solidFill>
          <a:ln w="12700">
            <a:solidFill>
              <a:srgbClr val="2C4A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26280" y="1325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1 500 000 FCFA HT / an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4526280" y="2788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10 embarcations, puis 120 000 FCFA par embarcation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526280" y="324612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flotte, suivi de toutes les embarcations, dossiers de licence des membres, alertes, exports ; abonnement de chaque membre inclus.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138160" y="132588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138160" y="132588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4E8F3A"/>
          </a:solidFill>
          <a:ln w="12700">
            <a:solidFill>
              <a:srgbClr val="4E8F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321040" y="1325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Pêcheur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30 000 FCFA TTC / an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321040" y="2788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3 000 FCFA TTC par mois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8321040" y="324612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en ligne, déclarations et GPS hors réseau, bulletin de mer, alertes de danger, attestations. Paiement mobile depuis son propre numéro.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440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Ancrage :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pêcheur maritime paie déjà 110 000 à 210 000 FCFA de redevances officielles ; l'abonnement en représente 14 à 27 %. La licence annuelle de l'autorité, 29 500 000 FCFA TTC, reste sous le seuil des marchés de fournitures de l'État (arrêté n° 008.24/MEP du 23 février 2024). Les équipements physiques sont toujours facturés à part. Prix proposés, soumis à validation et à l'enquête de consentement à payer du pilote.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600200" cy="4846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8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OFFRE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à 45 000 000 FCFA HT, paiement aux jalons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CBM-PIGAP · Octobre 2026 · Confidentiel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8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et conception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6 750 000 FCFA HT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32918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4E8F3A"/>
          </a:solidFill>
          <a:ln w="12700">
            <a:solidFill>
              <a:srgbClr val="4E8F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291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Réalisée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70332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et architecture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d'architecture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83280" y="132588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F2F4F7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6616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8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56616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du prototype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566160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45 %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356616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20 250 000 FCFA HT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566160" y="32918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4E8F3A"/>
          </a:solidFill>
          <a:ln w="12700">
            <a:solidFill>
              <a:srgbClr val="4E8F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66160" y="3291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Réalisée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370332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modules et 6 extensions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Portail, API, mobile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tests automatisés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217920" y="132588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E8A42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8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Expérimentation terrain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0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</a:t>
            </a:r>
            <a:endParaRPr lang="en-US" sz="28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11 250 000 FCFA HT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400800" y="32918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8A421"/>
          </a:solidFill>
          <a:ln w="12700">
            <a:solidFill>
              <a:srgbClr val="E8A42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0" y="3291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engager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6400800" y="370332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pilote, 50 à 100 pêcheurs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des agents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de résultat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9052560" y="132588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E8A42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23544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8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923544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et formation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9235440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2800" dirty="0"/>
          </a:p>
        </p:txBody>
      </p:sp>
      <p:sp>
        <p:nvSpPr>
          <p:cNvPr id="34" name="Text 31"/>
          <p:cNvSpPr txBox="1"/>
          <p:nvPr/>
        </p:nvSpPr>
        <p:spPr>
          <a:xfrm>
            <a:off x="923544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6 750 000 FCFA HT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9235440" y="32918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8A421"/>
          </a:solidFill>
          <a:ln w="12700">
            <a:solidFill>
              <a:srgbClr val="E8A42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235440" y="3291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engager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9235440" y="370332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Généralisation progressive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de compétences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 et documentation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548640" y="5669280"/>
            <a:ext cx="11155680" cy="640080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77240" y="56692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paiement est conditionné à la validation technique et fonctionnelle des livrables par le comité de pilotage. Montant inchangé depuis le dépôt ; hors matériel et hébergement de production à grande échelle.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600200" cy="4846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8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PROCHAINES ÉTAPES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: phases réalisées et prochaines étapes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CBM-PIGAP · Octobre 2026 · Confidentiel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457200" cy="457200"/>
          </a:xfrm>
          <a:prstGeom prst="ellipse">
            <a:avLst/>
          </a:prstGeom>
          <a:solidFill>
            <a:srgbClr val="4E8F3A"/>
          </a:solidFill>
          <a:ln w="12700">
            <a:solidFill>
              <a:srgbClr val="4E8F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2029968"/>
            <a:ext cx="0" cy="502920"/>
          </a:xfrm>
          <a:prstGeom prst="line">
            <a:avLst/>
          </a:prstGeom>
          <a:noFill/>
          <a:ln w="19050">
            <a:solidFill>
              <a:srgbClr val="D7DC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234440" y="13716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Juillet 2026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657600" y="137160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Amorçage, étude et conception validées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532888"/>
            <a:ext cx="457200" cy="457200"/>
          </a:xfrm>
          <a:prstGeom prst="ellipse">
            <a:avLst/>
          </a:prstGeom>
          <a:solidFill>
            <a:srgbClr val="4E8F3A"/>
          </a:solidFill>
          <a:ln w="12700">
            <a:solidFill>
              <a:srgbClr val="4E8F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7240" y="2990088"/>
            <a:ext cx="0" cy="502920"/>
          </a:xfrm>
          <a:prstGeom prst="line">
            <a:avLst/>
          </a:prstGeom>
          <a:noFill/>
          <a:ln w="19050">
            <a:solidFill>
              <a:srgbClr val="D7DCE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234440" y="2331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Juillet à octobre 2026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657600" y="23317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M1 à M7, extensions, mise en ligne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3493008"/>
            <a:ext cx="457200" cy="457200"/>
          </a:xfrm>
          <a:prstGeom prst="ellipse">
            <a:avLst/>
          </a:prstGeom>
          <a:solidFill>
            <a:srgbClr val="E8A421"/>
          </a:solidFill>
          <a:ln w="12700">
            <a:solidFill>
              <a:srgbClr val="E8A42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77240" y="3950208"/>
            <a:ext cx="0" cy="502920"/>
          </a:xfrm>
          <a:prstGeom prst="line">
            <a:avLst/>
          </a:prstGeom>
          <a:noFill/>
          <a:ln w="19050">
            <a:solidFill>
              <a:srgbClr val="D7DCE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34440" y="32918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1 à 2 du pilote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32918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avec la direction des pêches et un centre communautaire ; déclaration des traitements ; accès aux données des balises nationales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4453128"/>
            <a:ext cx="457200" cy="457200"/>
          </a:xfrm>
          <a:prstGeom prst="ellipse">
            <a:avLst/>
          </a:prstGeom>
          <a:solidFill>
            <a:srgbClr val="E8A421"/>
          </a:solidFill>
          <a:ln w="12700">
            <a:solidFill>
              <a:srgbClr val="E8A42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77240" y="4910328"/>
            <a:ext cx="0" cy="502920"/>
          </a:xfrm>
          <a:prstGeom prst="line">
            <a:avLst/>
          </a:prstGeom>
          <a:noFill/>
          <a:ln w="19050">
            <a:solidFill>
              <a:srgbClr val="D7DCE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234440" y="42519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2 à 4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3657600" y="42519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Enrôlement de 50 à 100 pêcheurs et d'une coopérative ; formation de 5 agents ; récepteur AIS sur le port pilote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48640" y="5413248"/>
            <a:ext cx="457200" cy="457200"/>
          </a:xfrm>
          <a:prstGeom prst="ellipse">
            <a:avLst/>
          </a:prstGeom>
          <a:solidFill>
            <a:srgbClr val="E8A421"/>
          </a:solidFill>
          <a:ln w="12700">
            <a:solidFill>
              <a:srgbClr val="E8A42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48640" y="5413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234440" y="52120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4 à 6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3657600" y="52120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 de consentement à payer ; bilan chiffré ; déploiement, formation et transfert de compétences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demandons au comité : une zone pilote, un groupe de pêcheurs et d'agents, et l'accès conventionné aux référentiels et aux données des balises nationales.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33832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doc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667512"/>
            <a:ext cx="3017520" cy="9052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construite, en ligne, prête pour le terrain.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108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en direct sur demande. Toutes les données du prototype sont fictives jusqu'à l'ouverture de la phase pilote.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8463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BEYEME, porteur de projet, CBM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au défi Kimba Connect, République Gabonaise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soumission actualisé, version 2.0, 1er octobre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CBM-PIGAP, présentation actualisée, octobre 2026</dc:title>
  <dc:subject>PptxGenJS Presentation</dc:subject>
  <dc:creator>CBM, Christian BEYEME</dc:creator>
  <cp:lastModifiedBy>CBM, Christian BEYEME</cp:lastModifiedBy>
  <cp:revision>1</cp:revision>
  <dcterms:created xsi:type="dcterms:W3CDTF">2026-10-01T21:38:48Z</dcterms:created>
  <dcterms:modified xsi:type="dcterms:W3CDTF">2026-10-01T21:38:48Z</dcterms:modified>
</cp:coreProperties>
</file>